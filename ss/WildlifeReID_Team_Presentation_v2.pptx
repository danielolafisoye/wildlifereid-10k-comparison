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88"/>
  </p:normalViewPr>
  <p:slideViewPr>
    <p:cSldViewPr snapToGrid="0">
      <p:cViewPr varScale="1">
        <p:scale>
          <a:sx n="122" d="100"/>
          <a:sy n="122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ConvNeXt</c:v>
          </c:tx>
          <c:spPr>
            <a:solidFill>
              <a:srgbClr val="8EAD9F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9241E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Top-1</c:v>
                </c:pt>
                <c:pt idx="1">
                  <c:v>Top-5</c:v>
                </c:pt>
                <c:pt idx="2">
                  <c:v>Open-set AUROC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82.77</c:v>
                </c:pt>
                <c:pt idx="1">
                  <c:v>97.9</c:v>
                </c:pt>
                <c:pt idx="2">
                  <c:v>90.81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18-F645-A74B-DBB43C55932D}"/>
            </c:ext>
          </c:extLst>
        </c:ser>
        <c:ser>
          <c:idx val="1"/>
          <c:order val="1"/>
          <c:tx>
            <c:v>MiewID</c:v>
          </c:tx>
          <c:spPr>
            <a:solidFill>
              <a:srgbClr val="2E7D4F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9241E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Top-1</c:v>
                </c:pt>
                <c:pt idx="1">
                  <c:v>Top-5</c:v>
                </c:pt>
                <c:pt idx="2">
                  <c:v>Open-set AUROC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88.24</c:v>
                </c:pt>
                <c:pt idx="1">
                  <c:v>95.8</c:v>
                </c:pt>
                <c:pt idx="2">
                  <c:v>95.86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18-F645-A74B-DBB43C5593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DD7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5DDD7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5DDD7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68736D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Wildlife re-identification links photographs of the same individual animal across different observations.</a:t>
            </a:r>
          </a:p>
          <a:p>
            <a:r>
              <a:rPr dirty="0"/>
              <a:t>The project compares a classification model and an embedding model under the same open-set protocol.</a:t>
            </a:r>
          </a:p>
          <a:p>
            <a:r>
              <a:rPr dirty="0"/>
              <a:t>The screenshot shows the React application connected to the Flask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Species classification does not solve this problem because the goal is to identify the individual animal.</a:t>
            </a:r>
          </a:p>
          <a:p>
            <a:r>
              <a:rPr dirty="0"/>
              <a:t>The open-set setting matters because the test data includes identities that never appeared in training.</a:t>
            </a:r>
          </a:p>
          <a:p>
            <a:r>
              <a:rPr dirty="0"/>
              <a:t>The system must balance correct known-identity matches with unknown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React frontend uses one Flask response format for both models.</a:t>
            </a:r>
          </a:p>
          <a:p>
            <a:r>
              <a:t>ConvNeXt predicts an identity class, while MiewID compares a query embedding with a gallery built from training images.</a:t>
            </a:r>
          </a:p>
          <a:p>
            <a:r>
              <a:t>Both models use the same 100 identities selected with random_state 42 and the same 606 test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Top-1 and Top-5 use the 238 known queries only.</a:t>
            </a:r>
          </a:p>
          <a:p>
            <a:r>
              <a:t>AUROC uses all 606 queries and checks the ranking across every threshold.</a:t>
            </a:r>
          </a:p>
          <a:p>
            <a:r>
              <a:t>A threshold is an operating decision. It is not the same thing as model accuracy.</a:t>
            </a:r>
          </a:p>
          <a:p>
            <a:r>
              <a:t>mAP is available in the MiewID test script but is not part of the final two-model result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MiewID leads Top-1 by 5.47 percentage points and AUROC by 5.05 points.</a:t>
            </a:r>
          </a:p>
          <a:p>
            <a:r>
              <a:t>ConvNeXt leads Top-5 and was faster on the Apple MPS evaluation machine.</a:t>
            </a:r>
          </a:p>
          <a:p>
            <a:r>
              <a:t>Keep ConvNeXt in the interface as the faster baseline, but present MiewID as the main re-identification model.</a:t>
            </a:r>
          </a:p>
          <a:p>
            <a:r>
              <a:t>Source: src/models/comparison_results.json and src/models/comparison_predictions.csv.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3BE6FA-2C1E-46AF-946E-0F7F3111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68E53F6-2D39-4D0A-8718-E816D6FA2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75EF2BA-4B86-4443-A031-52C32D59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9DB7BF9-1469-4C86-946C-7FFC24D4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C7F353-B37C-4C7B-952B-0DBFF83AB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8F51F8D-9C57-4A86-97EB-E023E7A7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DB63818-2B2F-4F20-9187-2942FDC4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DC79126-42EE-4ABD-844C-5A732A1685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140B607-D7AE-4E3B-A129-5F0D6890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A46A95-D84C-489B-9E8F-289FFE002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DEE8B9-3A24-455A-903E-71615DB6D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E7D4F"/>
          </a:solidFill>
          <a:ln w="0">
            <a:solidFill>
              <a:srgbClr val="2E7D4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BBB180-9D15-4A55-B533-866969E5D27F}"/>
              </a:ext>
            </a:extLst>
          </p:cNvPr>
          <p:cNvSpPr>
            <a:spLocks noGrp="1"/>
          </p:cNvSpPr>
          <p:nvPr/>
        </p:nvSpPr>
        <p:spPr>
          <a:xfrm>
            <a:off x="762000" y="8001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INTRODUCTION &amp; 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C1F6F2-7067-4641-80E9-5C340DE912D5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WildlifeReID-10k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31E68-B38A-4EEA-8A01-259A40172CB1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504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8000"/>
              </a:lnSpc>
              <a:buNone/>
              <a:def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Open-set animal re-identification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78E22-2BD2-4151-BE34-4B8665361EC2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6000"/>
              </a:lnSpc>
              <a:buNone/>
              <a:def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Wildlife monitoring often captures the same individual across different cameras, dates and conditions. The task is to recognize the animal, not only its species.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62CCC-DDD9-4A32-AD99-A9CDEF74CFF6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This project compares ConvNeXt Base and MiewID on the same 100 known identities and the same open-set test queries.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53348-A365-49DF-8BD5-6A3658DF552A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606 test queries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0B464-AC46-4D9C-93F2-C93810DDB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62700" y="1195021"/>
            <a:ext cx="5029200" cy="4448908"/>
          </a:xfrm>
          <a:prstGeom prst="roundRect">
            <a:avLst>
              <a:gd name="adj" fmla="val 2273"/>
            </a:avLst>
          </a:prstGeom>
        </p:spPr>
      </p:pic>
    </p:spTree>
    <p:extLst>
      <p:ext uri="{BB962C8B-B14F-4D97-AF65-F5344CB8AC3E}">
        <p14:creationId xmlns:p14="http://schemas.microsoft.com/office/powerpoint/2010/main" val="33356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42ED08-0762-4236-A8B6-06F1D78B86B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95F33-6105-44E7-BCFD-15DA09AA10A6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704850" cy="38100"/>
          </a:xfrm>
          <a:prstGeom prst="rect">
            <a:avLst/>
          </a:prstGeom>
          <a:solidFill>
            <a:srgbClr val="2E7D4F"/>
          </a:solidFill>
          <a:ln w="0">
            <a:solidFill>
              <a:srgbClr val="2E7D4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09230E-1263-4029-9EFF-DD5EDC3B1B7A}"/>
              </a:ext>
            </a:extLst>
          </p:cNvPr>
          <p:cNvSpPr>
            <a:spLocks noGrp="1"/>
          </p:cNvSpPr>
          <p:nvPr/>
        </p:nvSpPr>
        <p:spPr>
          <a:xfrm>
            <a:off x="1600200" y="9620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A useful system must identify known animals and reject unseen ones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673A5-EBAE-49AC-BA28-1F0965F78EE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800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1F73D-A253-4E53-AB0A-665F68D584AB}"/>
              </a:ext>
            </a:extLst>
          </p:cNvPr>
          <p:cNvSpPr>
            <a:spLocks noGrp="1"/>
          </p:cNvSpPr>
          <p:nvPr/>
        </p:nvSpPr>
        <p:spPr>
          <a:xfrm>
            <a:off x="1714500" y="16573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75"/>
          </a:bodyPr>
          <a:lstStyle>
            <a:def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Individual animals can look different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F3684-F289-4375-8667-C9E9D5D47D16}"/>
              </a:ext>
            </a:extLst>
          </p:cNvPr>
          <p:cNvSpPr>
            <a:spLocks noGrp="1"/>
          </p:cNvSpPr>
          <p:nvPr/>
        </p:nvSpPr>
        <p:spPr>
          <a:xfrm>
            <a:off x="1714500" y="2209800"/>
            <a:ext cx="4095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Camera angle, lighting, distance and body pose change between photographs. A model must match identity despite these differences.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99D397D-42FE-427D-834F-47C0BDD5877E}"/>
              </a:ext>
            </a:extLst>
          </p:cNvPr>
          <p:cNvSpPr>
            <a:spLocks noGrp="1"/>
          </p:cNvSpPr>
          <p:nvPr/>
        </p:nvSpPr>
        <p:spPr>
          <a:xfrm>
            <a:off x="6096000" y="1571625"/>
            <a:ext cx="0" cy="201930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8F6FC-5DFA-4666-9221-08A0B4A77B01}"/>
              </a:ext>
            </a:extLst>
          </p:cNvPr>
          <p:cNvSpPr>
            <a:spLocks noGrp="1"/>
          </p:cNvSpPr>
          <p:nvPr/>
        </p:nvSpPr>
        <p:spPr>
          <a:xfrm>
            <a:off x="6553200" y="1619250"/>
            <a:ext cx="800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FBEEB-7F9D-43CA-A348-D33A65289856}"/>
              </a:ext>
            </a:extLst>
          </p:cNvPr>
          <p:cNvSpPr>
            <a:spLocks noGrp="1"/>
          </p:cNvSpPr>
          <p:nvPr/>
        </p:nvSpPr>
        <p:spPr>
          <a:xfrm>
            <a:off x="7467600" y="1657350"/>
            <a:ext cx="3905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Some queries belong to unseen animals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C3D452-DA2D-4F15-9626-67B6F615870F}"/>
              </a:ext>
            </a:extLst>
          </p:cNvPr>
          <p:cNvSpPr>
            <a:spLocks noGrp="1"/>
          </p:cNvSpPr>
          <p:nvPr/>
        </p:nvSpPr>
        <p:spPr>
          <a:xfrm>
            <a:off x="7467600" y="2400300"/>
            <a:ext cx="38671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A closed-set model always chooses one of the known labels. An open-set system must return UNKNOWN when the evidence is weak.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5EB4C91-6EE0-465B-B856-5C67427B23CE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92EFBD-8BF9-4A3B-B32C-E358319F318A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Core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97B67-D6F6-4C61-A76A-02F7F21CB959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10248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0000"/>
              </a:lnSpc>
              <a:buNone/>
              <a:def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Can the system name a known animal without forcing every query into one of the 100 trained identities?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AD2F61-16DD-4A46-877E-200B69A46DB1}"/>
              </a:ext>
            </a:extLst>
          </p:cNvPr>
          <p:cNvSpPr>
            <a:spLocks noGrp="1"/>
          </p:cNvSpPr>
          <p:nvPr/>
        </p:nvSpPr>
        <p:spPr>
          <a:xfrm>
            <a:off x="781050" y="6038850"/>
            <a:ext cx="1024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Success requires accurate identity retrieval and reliable known-versus-unknown separation.</a:t>
            </a:r>
          </a:p>
        </p:txBody>
      </p:sp>
    </p:spTree>
    <p:extLst>
      <p:ext uri="{BB962C8B-B14F-4D97-AF65-F5344CB8AC3E}">
        <p14:creationId xmlns:p14="http://schemas.microsoft.com/office/powerpoint/2010/main" val="127532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F90B773-1B52-4F88-B46B-C63E7029AD1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9C065-BB77-4816-9922-1DD7997A47A5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704850" cy="38100"/>
          </a:xfrm>
          <a:prstGeom prst="rect">
            <a:avLst/>
          </a:prstGeom>
          <a:solidFill>
            <a:srgbClr val="2E7D4F"/>
          </a:solidFill>
          <a:ln w="0">
            <a:solidFill>
              <a:srgbClr val="2E7D4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D5793-4F78-48CD-BD7B-DA9AE90C207E}"/>
              </a:ext>
            </a:extLst>
          </p:cNvPr>
          <p:cNvSpPr>
            <a:spLocks noGrp="1"/>
          </p:cNvSpPr>
          <p:nvPr/>
        </p:nvSpPr>
        <p:spPr>
          <a:xfrm>
            <a:off x="1600200" y="9620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One web interface compares two trained re-identification approaches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7D30DA-32E8-4504-8796-3419EC3A2B50}"/>
              </a:ext>
            </a:extLst>
          </p:cNvPr>
          <p:cNvSpPr>
            <a:spLocks noGrp="1"/>
          </p:cNvSpPr>
          <p:nvPr/>
        </p:nvSpPr>
        <p:spPr>
          <a:xfrm>
            <a:off x="1762125" y="2105025"/>
            <a:ext cx="8667750" cy="0"/>
          </a:xfrm>
          <a:prstGeom prst="line">
            <a:avLst/>
          </a:prstGeom>
          <a:noFill/>
          <a:ln w="38100">
            <a:solidFill>
              <a:srgbClr val="8EAD9F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D63F86-EADE-4094-8EC2-9DFA9EC0BE17}"/>
              </a:ext>
            </a:extLst>
          </p:cNvPr>
          <p:cNvSpPr>
            <a:spLocks noGrp="1"/>
          </p:cNvSpPr>
          <p:nvPr/>
        </p:nvSpPr>
        <p:spPr>
          <a:xfrm>
            <a:off x="1619250" y="2019300"/>
            <a:ext cx="514350" cy="514350"/>
          </a:xfrm>
          <a:prstGeom prst="ellipse">
            <a:avLst/>
          </a:prstGeom>
          <a:solidFill>
            <a:srgbClr val="2E7D4F"/>
          </a:solidFill>
          <a:ln w="9525">
            <a:solidFill>
              <a:srgbClr val="2E7D4F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24732-3627-4760-BB52-41BFD5295338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Query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BEC5F-7AAD-46E2-9AA0-3D9FB3D55FFD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1847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Choose a held-out test image or upload a photograph.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5F8B3-9E3D-4752-9F70-AD265340A8F1}"/>
              </a:ext>
            </a:extLst>
          </p:cNvPr>
          <p:cNvSpPr>
            <a:spLocks noGrp="1"/>
          </p:cNvSpPr>
          <p:nvPr/>
        </p:nvSpPr>
        <p:spPr>
          <a:xfrm>
            <a:off x="952500" y="4429125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React frontend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6E7E6-6E60-4CEB-B812-963E72E4649E}"/>
              </a:ext>
            </a:extLst>
          </p:cNvPr>
          <p:cNvSpPr>
            <a:spLocks noGrp="1"/>
          </p:cNvSpPr>
          <p:nvPr/>
        </p:nvSpPr>
        <p:spPr>
          <a:xfrm>
            <a:off x="4476750" y="2019300"/>
            <a:ext cx="514350" cy="514350"/>
          </a:xfrm>
          <a:prstGeom prst="ellipse">
            <a:avLst/>
          </a:prstGeom>
          <a:solidFill>
            <a:srgbClr val="2E7D4F"/>
          </a:solidFill>
          <a:ln w="9525">
            <a:solidFill>
              <a:srgbClr val="2E7D4F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898F42-92FD-4E6D-B64D-81C73E498693}"/>
              </a:ext>
            </a:extLst>
          </p:cNvPr>
          <p:cNvSpPr>
            <a:spLocks noGrp="1"/>
          </p:cNvSpPr>
          <p:nvPr/>
        </p:nvSpPr>
        <p:spPr>
          <a:xfrm>
            <a:off x="4019550" y="27813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Flask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954A6-7464-4736-8938-E4C089472459}"/>
              </a:ext>
            </a:extLst>
          </p:cNvPr>
          <p:cNvSpPr>
            <a:spLocks noGrp="1"/>
          </p:cNvSpPr>
          <p:nvPr/>
        </p:nvSpPr>
        <p:spPr>
          <a:xfrm>
            <a:off x="3810000" y="3238500"/>
            <a:ext cx="1847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Validate the file and send it to the selected model.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353BE-B2A1-483C-B4BF-B36CDE7195DB}"/>
              </a:ext>
            </a:extLst>
          </p:cNvPr>
          <p:cNvSpPr>
            <a:spLocks noGrp="1"/>
          </p:cNvSpPr>
          <p:nvPr/>
        </p:nvSpPr>
        <p:spPr>
          <a:xfrm>
            <a:off x="3810000" y="4429125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Shared endpoint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0ED1C0-D656-494F-8A3E-D6AFB1B13BA9}"/>
              </a:ext>
            </a:extLst>
          </p:cNvPr>
          <p:cNvSpPr>
            <a:spLocks noGrp="1"/>
          </p:cNvSpPr>
          <p:nvPr/>
        </p:nvSpPr>
        <p:spPr>
          <a:xfrm>
            <a:off x="7334250" y="2019300"/>
            <a:ext cx="514350" cy="514350"/>
          </a:xfrm>
          <a:prstGeom prst="ellipse">
            <a:avLst/>
          </a:prstGeom>
          <a:solidFill>
            <a:srgbClr val="2E7D4F"/>
          </a:solidFill>
          <a:ln w="9525">
            <a:solidFill>
              <a:srgbClr val="2E7D4F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5DD5F-6E7F-4FDA-9814-9901B0A374F2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97AC34-AB03-492E-9A32-ADEF141ABD67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1847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Use ConvNeXt classification or MiewID embedding search.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5DB21B-C190-4140-B252-303800D30D32}"/>
              </a:ext>
            </a:extLst>
          </p:cNvPr>
          <p:cNvSpPr>
            <a:spLocks noGrp="1"/>
          </p:cNvSpPr>
          <p:nvPr/>
        </p:nvSpPr>
        <p:spPr>
          <a:xfrm>
            <a:off x="6667500" y="4429125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Two model paths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276D6E-3CE2-46D8-8BA4-62032A3F3766}"/>
              </a:ext>
            </a:extLst>
          </p:cNvPr>
          <p:cNvSpPr>
            <a:spLocks noGrp="1"/>
          </p:cNvSpPr>
          <p:nvPr/>
        </p:nvSpPr>
        <p:spPr>
          <a:xfrm>
            <a:off x="10191750" y="2019300"/>
            <a:ext cx="514350" cy="514350"/>
          </a:xfrm>
          <a:prstGeom prst="ellipse">
            <a:avLst/>
          </a:prstGeom>
          <a:solidFill>
            <a:srgbClr val="2E7D4F"/>
          </a:solidFill>
          <a:ln w="9525">
            <a:solidFill>
              <a:srgbClr val="2E7D4F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F6D58D-C7D7-487C-B405-D0B043272AC3}"/>
              </a:ext>
            </a:extLst>
          </p:cNvPr>
          <p:cNvSpPr>
            <a:spLocks noGrp="1"/>
          </p:cNvSpPr>
          <p:nvPr/>
        </p:nvSpPr>
        <p:spPr>
          <a:xfrm>
            <a:off x="9734550" y="27813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36744D-482D-4390-8753-502D00CF9188}"/>
              </a:ext>
            </a:extLst>
          </p:cNvPr>
          <p:cNvSpPr>
            <a:spLocks noGrp="1"/>
          </p:cNvSpPr>
          <p:nvPr/>
        </p:nvSpPr>
        <p:spPr>
          <a:xfrm>
            <a:off x="9525000" y="3238500"/>
            <a:ext cx="1847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Return identity, confidence, unknown decision and Top-5.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6D9684-BD33-4171-AECF-FA2566D12A78}"/>
              </a:ext>
            </a:extLst>
          </p:cNvPr>
          <p:cNvSpPr>
            <a:spLocks noGrp="1"/>
          </p:cNvSpPr>
          <p:nvPr/>
        </p:nvSpPr>
        <p:spPr>
          <a:xfrm>
            <a:off x="9525000" y="4429125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lnSpc>
                <a:spcPct val="105000"/>
              </a:lnSpc>
              <a:buNone/>
              <a:def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Friendly result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9A28FEC-9F1F-4E02-92A9-C9344B3BF58B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DE870E-824B-4E6F-9739-1F011CBE7CDC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EAD9F"/>
                </a:solidFill>
                <a:latin typeface="Helvetica Neue"/>
                <a:ea typeface="Helvetica Neue"/>
                <a:cs typeface="Helvetica Neue"/>
              </a:rPr>
              <a:t>ConvNeXt Base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7A708C-B613-469B-B7E8-B875784F911A}"/>
              </a:ext>
            </a:extLst>
          </p:cNvPr>
          <p:cNvSpPr>
            <a:spLocks noGrp="1"/>
          </p:cNvSpPr>
          <p:nvPr/>
        </p:nvSpPr>
        <p:spPr>
          <a:xfrm>
            <a:off x="933450" y="5943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100-class softmax baseline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E5FD2543-94A5-44D2-BF1F-196F68EA2634}"/>
              </a:ext>
            </a:extLst>
          </p:cNvPr>
          <p:cNvSpPr>
            <a:spLocks noGrp="1"/>
          </p:cNvSpPr>
          <p:nvPr/>
        </p:nvSpPr>
        <p:spPr>
          <a:xfrm>
            <a:off x="3981450" y="5562600"/>
            <a:ext cx="0" cy="68580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78715E-5B12-4CA2-A92B-14CB3FF8058B}"/>
              </a:ext>
            </a:extLst>
          </p:cNvPr>
          <p:cNvSpPr>
            <a:spLocks noGrp="1"/>
          </p:cNvSpPr>
          <p:nvPr/>
        </p:nvSpPr>
        <p:spPr>
          <a:xfrm>
            <a:off x="4362450" y="55816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MiewID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C150EE-7285-48DE-8E3C-B785AE48890A}"/>
              </a:ext>
            </a:extLst>
          </p:cNvPr>
          <p:cNvSpPr>
            <a:spLocks noGrp="1"/>
          </p:cNvSpPr>
          <p:nvPr/>
        </p:nvSpPr>
        <p:spPr>
          <a:xfrm>
            <a:off x="4362450" y="5943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Embedding and cosine gallery search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DB183D2-7D4A-4E1C-9BE2-E5FC2B27432E}"/>
              </a:ext>
            </a:extLst>
          </p:cNvPr>
          <p:cNvSpPr>
            <a:spLocks noGrp="1"/>
          </p:cNvSpPr>
          <p:nvPr/>
        </p:nvSpPr>
        <p:spPr>
          <a:xfrm>
            <a:off x="7791450" y="5562600"/>
            <a:ext cx="0" cy="68580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4018A3-B702-4BAF-A155-AE4BC62E2948}"/>
              </a:ext>
            </a:extLst>
          </p:cNvPr>
          <p:cNvSpPr>
            <a:spLocks noGrp="1"/>
          </p:cNvSpPr>
          <p:nvPr/>
        </p:nvSpPr>
        <p:spPr>
          <a:xfrm>
            <a:off x="8172450" y="5581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Fair comparison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B4A4D9-C62B-44E5-8212-C0154AF6B158}"/>
              </a:ext>
            </a:extLst>
          </p:cNvPr>
          <p:cNvSpPr>
            <a:spLocks noGrp="1"/>
          </p:cNvSpPr>
          <p:nvPr/>
        </p:nvSpPr>
        <p:spPr>
          <a:xfrm>
            <a:off x="8172450" y="59436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Same 100 identities and 606 queries</a:t>
            </a:r>
          </a:p>
        </p:txBody>
      </p:sp>
    </p:spTree>
    <p:extLst>
      <p:ext uri="{BB962C8B-B14F-4D97-AF65-F5344CB8AC3E}">
        <p14:creationId xmlns:p14="http://schemas.microsoft.com/office/powerpoint/2010/main" val="176521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E0F7A2D-BFC5-4B57-BF99-6560A1F980F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Evaluation 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ADA46-103D-4385-8AA0-A527DA47C47A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704850" cy="38100"/>
          </a:xfrm>
          <a:prstGeom prst="rect">
            <a:avLst/>
          </a:prstGeom>
          <a:solidFill>
            <a:srgbClr val="2E7D4F"/>
          </a:solidFill>
          <a:ln w="0">
            <a:solidFill>
              <a:srgbClr val="2E7D4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C8FCD5-29C0-4A98-AE2F-766745666D6F}"/>
              </a:ext>
            </a:extLst>
          </p:cNvPr>
          <p:cNvSpPr>
            <a:spLocks noGrp="1"/>
          </p:cNvSpPr>
          <p:nvPr/>
        </p:nvSpPr>
        <p:spPr>
          <a:xfrm>
            <a:off x="1600200" y="9620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Top-1, Top-5 and AUROC answer different 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DBE31-E2E4-44BD-84C7-4254E9F01F24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2933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Top-1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8B8D3-0C25-4245-AA5B-6120173EF61C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First choice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26023-CDAC-4EA8-92B3-EF793C0C1A14}"/>
              </a:ext>
            </a:extLst>
          </p:cNvPr>
          <p:cNvSpPr>
            <a:spLocks noGrp="1"/>
          </p:cNvSpPr>
          <p:nvPr/>
        </p:nvSpPr>
        <p:spPr>
          <a:xfrm>
            <a:off x="742950" y="283845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7000"/>
              </a:lnSpc>
              <a:buNone/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Counts a known query as correct only when the first predicted identity matches the true animal.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644C4-EB11-4B3A-A4F6-7A58963C9578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2933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Best for the final identity shown to the user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D7F7E82-6FEF-41ED-A367-77D833FE92C0}"/>
              </a:ext>
            </a:extLst>
          </p:cNvPr>
          <p:cNvSpPr>
            <a:spLocks noGrp="1"/>
          </p:cNvSpPr>
          <p:nvPr/>
        </p:nvSpPr>
        <p:spPr>
          <a:xfrm>
            <a:off x="3962400" y="1590675"/>
            <a:ext cx="0" cy="314325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341EE-7025-4034-AA17-0F41305C0943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2933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Top-5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C191A0-02E5-4C79-B3F3-D70A75771D30}"/>
              </a:ext>
            </a:extLst>
          </p:cNvPr>
          <p:cNvSpPr>
            <a:spLocks noGrp="1"/>
          </p:cNvSpPr>
          <p:nvPr/>
        </p:nvSpPr>
        <p:spPr>
          <a:xfrm>
            <a:off x="4267200" y="2209800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Shortlist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E3B80-1C72-4AF6-BAE4-9CE26C20A74E}"/>
              </a:ext>
            </a:extLst>
          </p:cNvPr>
          <p:cNvSpPr>
            <a:spLocks noGrp="1"/>
          </p:cNvSpPr>
          <p:nvPr/>
        </p:nvSpPr>
        <p:spPr>
          <a:xfrm>
            <a:off x="4267200" y="283845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7000"/>
              </a:lnSpc>
              <a:buNone/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Counts a known query as correct when the true animal appears anywhere among the first five identities.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F5C6F-B107-4EF9-A32F-724307AC30D6}"/>
              </a:ext>
            </a:extLst>
          </p:cNvPr>
          <p:cNvSpPr>
            <a:spLocks noGrp="1"/>
          </p:cNvSpPr>
          <p:nvPr/>
        </p:nvSpPr>
        <p:spPr>
          <a:xfrm>
            <a:off x="4267200" y="4210050"/>
            <a:ext cx="2933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Useful when a person reviews candidates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4E7E1C3-0EEC-47B2-87BC-6F8EC250FC04}"/>
              </a:ext>
            </a:extLst>
          </p:cNvPr>
          <p:cNvSpPr>
            <a:spLocks noGrp="1"/>
          </p:cNvSpPr>
          <p:nvPr/>
        </p:nvSpPr>
        <p:spPr>
          <a:xfrm>
            <a:off x="7486650" y="1590675"/>
            <a:ext cx="0" cy="314325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5B6BF8-8746-4D88-90DC-EBAB1267C28A}"/>
              </a:ext>
            </a:extLst>
          </p:cNvPr>
          <p:cNvSpPr>
            <a:spLocks noGrp="1"/>
          </p:cNvSpPr>
          <p:nvPr/>
        </p:nvSpPr>
        <p:spPr>
          <a:xfrm>
            <a:off x="7791450" y="1562100"/>
            <a:ext cx="2933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AUROC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52D4E-5A70-4011-99F7-049ECBBB40F7}"/>
              </a:ext>
            </a:extLst>
          </p:cNvPr>
          <p:cNvSpPr>
            <a:spLocks noGrp="1"/>
          </p:cNvSpPr>
          <p:nvPr/>
        </p:nvSpPr>
        <p:spPr>
          <a:xfrm>
            <a:off x="7791450" y="2209800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Known vs unknown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A9D0A3-AABE-48E9-B192-BFF970CE5CF4}"/>
              </a:ext>
            </a:extLst>
          </p:cNvPr>
          <p:cNvSpPr>
            <a:spLocks noGrp="1"/>
          </p:cNvSpPr>
          <p:nvPr/>
        </p:nvSpPr>
        <p:spPr>
          <a:xfrm>
            <a:off x="7791450" y="283845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7000"/>
              </a:lnSpc>
              <a:buNone/>
              <a:def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Measures how well the score separates unseen animals from known ones across all possible thresholds.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DFE0A5-944C-4DF7-AC95-527F1055930C}"/>
              </a:ext>
            </a:extLst>
          </p:cNvPr>
          <p:cNvSpPr>
            <a:spLocks noGrp="1"/>
          </p:cNvSpPr>
          <p:nvPr/>
        </p:nvSpPr>
        <p:spPr>
          <a:xfrm>
            <a:off x="7791450" y="4210050"/>
            <a:ext cx="2933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50% is random and 100% is perfect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218863-C3C3-4593-B861-0FF74A43E54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990600"/>
          </a:xfrm>
          <a:prstGeom prst="rect">
            <a:avLst/>
          </a:prstGeom>
          <a:solidFill>
            <a:srgbClr val="E3ECE6"/>
          </a:solidFill>
          <a:ln w="0">
            <a:solidFill>
              <a:srgbClr val="E3ECE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B41EE-8360-4DA5-8279-7716918427ED}"/>
              </a:ext>
            </a:extLst>
          </p:cNvPr>
          <p:cNvSpPr>
            <a:spLocks noGrp="1"/>
          </p:cNvSpPr>
          <p:nvPr/>
        </p:nvSpPr>
        <p:spPr>
          <a:xfrm>
            <a:off x="933450" y="53816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The 50% unknown rule is a demo threshold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8431D-D5F9-41F2-B496-FBD72F616455}"/>
              </a:ext>
            </a:extLst>
          </p:cNvPr>
          <p:cNvSpPr>
            <a:spLocks noGrp="1"/>
          </p:cNvSpPr>
          <p:nvPr/>
        </p:nvSpPr>
        <p:spPr>
          <a:xfrm>
            <a:off x="933450" y="577215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ConvNeXt uses softmax probability. MiewID uses cosine similarity. Their raw percentages are not directly comparable, which is why AUROC is the fair open-set metric.</a:t>
            </a:r>
          </a:p>
        </p:txBody>
      </p:sp>
    </p:spTree>
    <p:extLst>
      <p:ext uri="{BB962C8B-B14F-4D97-AF65-F5344CB8AC3E}">
        <p14:creationId xmlns:p14="http://schemas.microsoft.com/office/powerpoint/2010/main" val="1801851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5523D2-46EC-4994-B6A8-2980DE83779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Results and 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03EB31-EFC2-4C34-AE80-3C1676F4C3A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704850" cy="38100"/>
          </a:xfrm>
          <a:prstGeom prst="rect">
            <a:avLst/>
          </a:prstGeom>
          <a:solidFill>
            <a:srgbClr val="2E7D4F"/>
          </a:solidFill>
          <a:ln w="0">
            <a:solidFill>
              <a:srgbClr val="2E7D4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129FC-EE1C-4020-9E3A-F83188B145E7}"/>
              </a:ext>
            </a:extLst>
          </p:cNvPr>
          <p:cNvSpPr>
            <a:spLocks noGrp="1"/>
          </p:cNvSpPr>
          <p:nvPr/>
        </p:nvSpPr>
        <p:spPr>
          <a:xfrm>
            <a:off x="1600200" y="9620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Same 100 identities, same 606 queries and no retraining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933CC949-2B28-4106-BED0-EAD60A3249D4}"/>
              </a:ext>
            </a:extLst>
          </p:cNvPr>
          <p:cNvGraphicFramePr/>
          <p:nvPr/>
        </p:nvGraphicFramePr>
        <p:xfrm>
          <a:off x="514350" y="1466850"/>
          <a:ext cx="752475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5EEFF80-D6E6-4171-9C96-696DD3AE22A4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0" cy="4095750"/>
          </a:xfrm>
          <a:prstGeom prst="line">
            <a:avLst/>
          </a:prstGeom>
          <a:noFill/>
          <a:ln w="9525">
            <a:solidFill>
              <a:srgbClr val="D5DDD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698DA-627B-4A70-B6CB-430B3EE78170}"/>
              </a:ext>
            </a:extLst>
          </p:cNvPr>
          <p:cNvSpPr>
            <a:spLocks noGrp="1"/>
          </p:cNvSpPr>
          <p:nvPr/>
        </p:nvSpPr>
        <p:spPr>
          <a:xfrm>
            <a:off x="8667750" y="16573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Recommended primary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236969-C5D8-4864-A2EA-A45486A8B9F1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31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 err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MiewID</a:t>
            </a:r>
            <a:endParaRPr sz="3150" b="1" dirty="0">
              <a:solidFill>
                <a:srgbClr val="2E7D4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86D5B-6464-4044-9835-DF7ACBEC9481}"/>
              </a:ext>
            </a:extLst>
          </p:cNvPr>
          <p:cNvSpPr>
            <a:spLocks noGrp="1"/>
          </p:cNvSpPr>
          <p:nvPr/>
        </p:nvSpPr>
        <p:spPr>
          <a:xfrm>
            <a:off x="8667750" y="2990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88.24% Top-1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F9FCDE-E1B7-41E7-B9B4-ADA59EB277B9}"/>
              </a:ext>
            </a:extLst>
          </p:cNvPr>
          <p:cNvSpPr>
            <a:spLocks noGrp="1"/>
          </p:cNvSpPr>
          <p:nvPr/>
        </p:nvSpPr>
        <p:spPr>
          <a:xfrm>
            <a:off x="8667750" y="3448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95.86% open-set AUROC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98942A-C765-4590-A8C5-D4D8EC511D67}"/>
              </a:ext>
            </a:extLst>
          </p:cNvPr>
          <p:cNvSpPr>
            <a:spLocks noGrp="1"/>
          </p:cNvSpPr>
          <p:nvPr/>
        </p:nvSpPr>
        <p:spPr>
          <a:xfrm>
            <a:off x="8667750" y="4057650"/>
            <a:ext cx="2667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17000"/>
              </a:lnSpc>
              <a:buNone/>
              <a:def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MiewID gives the better first identity and separates unseen animals more reliably.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6B928-E0A3-4401-8AFB-9B70C66895AF}"/>
              </a:ext>
            </a:extLst>
          </p:cNvPr>
          <p:cNvSpPr>
            <a:spLocks noGrp="1"/>
          </p:cNvSpPr>
          <p:nvPr/>
        </p:nvSpPr>
        <p:spPr>
          <a:xfrm>
            <a:off x="8667750" y="52197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9"/>
          </a:bodyPr>
          <a:lstStyle>
            <a:def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241E"/>
                </a:solidFill>
                <a:latin typeface="Helvetica Neue"/>
                <a:ea typeface="Helvetica Neue"/>
                <a:cs typeface="Helvetica Neue"/>
              </a:rPr>
              <a:t>ConvNeXt stays as the faster baseline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BFFCB9-4F3F-4093-92E4-C25CF6595164}"/>
              </a:ext>
            </a:extLst>
          </p:cNvPr>
          <p:cNvSpPr>
            <a:spLocks noGrp="1"/>
          </p:cNvSpPr>
          <p:nvPr/>
        </p:nvSpPr>
        <p:spPr>
          <a:xfrm>
            <a:off x="8667750" y="55816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34.1 </a:t>
            </a:r>
            <a:r>
              <a:rPr sz="1125" b="0" dirty="0" err="1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ms</a:t>
            </a:r>
            <a:r>
              <a:rPr sz="1125" b="0" dirty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 average per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ADA230-D27B-46A7-A867-6509FD68308D}"/>
              </a:ext>
            </a:extLst>
          </p:cNvPr>
          <p:cNvSpPr>
            <a:spLocks noGrp="1"/>
          </p:cNvSpPr>
          <p:nvPr/>
        </p:nvSpPr>
        <p:spPr>
          <a:xfrm>
            <a:off x="685800" y="618172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 err="1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ConvNeXt</a:t>
            </a:r>
            <a:r>
              <a:rPr sz="1125" b="0" dirty="0">
                <a:solidFill>
                  <a:srgbClr val="68736D"/>
                </a:solidFill>
                <a:latin typeface="Helvetica Neue"/>
                <a:ea typeface="Helvetica Neue"/>
                <a:cs typeface="Helvetica Neue"/>
              </a:rPr>
              <a:t> also leads Top-5 by 2.10 percentage points.</a:t>
            </a:r>
          </a:p>
        </p:txBody>
      </p:sp>
    </p:spTree>
    <p:extLst>
      <p:ext uri="{BB962C8B-B14F-4D97-AF65-F5344CB8AC3E}">
        <p14:creationId xmlns:p14="http://schemas.microsoft.com/office/powerpoint/2010/main" val="14196847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698</Words>
  <Application>Microsoft Macintosh PowerPoint</Application>
  <DocSecurity>0</DocSecurity>
  <PresentationFormat>Widescreen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Olafisoye</cp:lastModifiedBy>
  <cp:revision>1</cp:revision>
  <dcterms:created xsi:type="dcterms:W3CDTF">2026-10-18T11:31:27Z</dcterms:created>
  <dcterms:modified xsi:type="dcterms:W3CDTF">2026-10-18T12:21:25Z</dcterms:modified>
</cp:coreProperties>
</file>